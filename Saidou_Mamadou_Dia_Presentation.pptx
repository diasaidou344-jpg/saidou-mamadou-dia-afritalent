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C896"/>
                </a:solidFill>
                <a:latin typeface="Calibri"/>
              </a:rPr>
              <a:t>AfriTalent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Calibri"/>
              </a:rPr>
              <a:t>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A9E92"/>
                </a:solidFill>
                <a:latin typeface="Calibri"/>
              </a:rPr>
              <a:t>Plateforme de mise en relation entre freelances tech et entreprises africaines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023360"/>
            <a:ext cx="48737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A9E92"/>
                </a:solidFill>
                <a:latin typeface="Calibri"/>
              </a:rPr>
              <a:t>Projet Semestre 2  |  Saidou Mamadou Dia  |  L1cs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1206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E92"/>
                </a:solidFill>
                <a:latin typeface="Calibri"/>
              </a:rPr>
              <a:t>Encadrant : Robert DIASSÉ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  <a:latin typeface="Calibri"/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097280"/>
            <a:ext cx="3959352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01  Présentation du projet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02  Contexte &amp; objectif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03  Public cible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04  Choix de design — Palette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05  Choix de design — Typographie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06  Architecture du site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07  Captures d'écran —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08  Points techniques — JavaScript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09  Points techniques — Bootstrap &amp; CSS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10  GitHub — Commits &amp; workflow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11  GitHub Pages — Déploiement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12  Difficultés &amp; solutions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13  Ressources utilisées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14  Démonstration live</a:t>
            </a:r>
          </a:p>
          <a:p>
            <a:pPr algn="l"/>
            <a:r>
              <a:rPr sz="1700">
                <a:solidFill>
                  <a:srgbClr val="FFFFFF"/>
                </a:solidFill>
                <a:latin typeface="Calibri"/>
              </a:rPr>
              <a:t>15  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01 — Présentation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Calibri"/>
              </a:rPr>
              <a:t>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Le marché du freelance tech en Afrique connaît une croissance explosive. De plus en plus de développeurs, designers et créateurs de contenu cherchent une plateforme fiable et adaptée aux réalités africaines.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Calibri"/>
              </a:rPr>
              <a:t>Objectif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Concevoir et développer le site vitrine complet d'AfriTalent, une plateforme fictive de mise en relation entre freelances tech et entreprises, en appliquant les meilleures pratiques web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Calibri"/>
              </a:rPr>
              <a:t>Public cible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5029200" cy="1371600"/>
          </a:xfrm>
          <a:prstGeom prst="rect">
            <a:avLst/>
          </a:prstGeom>
          <a:solidFill>
            <a:srgbClr val="0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896"/>
                </a:solidFill>
                <a:latin typeface="Calibri"/>
              </a:rPr>
              <a:t>👨🏾‍💻  Freelances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Développeurs, designers, data scientists, DevOps qui veulent trouver des missions africaines.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663440"/>
            <a:ext cx="5029200" cy="1371600"/>
          </a:xfrm>
          <a:prstGeom prst="rect">
            <a:avLst/>
          </a:prstGeom>
          <a:solidFill>
            <a:srgbClr val="3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Calibri"/>
              </a:rPr>
              <a:t>🏢  Entreprises &amp; startups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66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PME, startups et grands groupes africains cherchant des experts tech qualifiés et vérifiés.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04 — Palette de couleurs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371600" cy="7772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#00C896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173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Vert Émeraude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Couleur principale — boutons, accents, liens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371600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#FFD700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Or Pur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86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Couleur secondaire — highlights, badges, étoiles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371600" cy="777240"/>
          </a:xfrm>
          <a:prstGeom prst="rect">
            <a:avLst/>
          </a:prstGeom>
          <a:solidFill>
            <a:srgbClr val="00F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#00FFB2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Cyan Menthe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2918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Accent lumineux — dégradés, statistiques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1371600" cy="77724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#020810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Noir Profond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2976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Fond principal — dark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1371600" cy="777240"/>
          </a:xfrm>
          <a:prstGeom prst="rect">
            <a:avLst/>
          </a:prstGeom>
          <a:solidFill>
            <a:srgbClr val="7A9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#7A9E92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440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Gris Émeraude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3035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Texte secondaire, sous-titres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05 — Typographie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00" cy="2286000"/>
          </a:xfrm>
          <a:prstGeom prst="rect">
            <a:avLst/>
          </a:prstGeom>
          <a:solidFill>
            <a:srgbClr val="00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C896"/>
                </a:solidFill>
                <a:latin typeface="Calibri"/>
              </a:rPr>
              <a:t>Syne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9E92"/>
                </a:solidFill>
                <a:latin typeface="Calibri"/>
              </a:rPr>
              <a:t>Police des titres (H1, H2, H3, navbar, boutons)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ABCDEFGHIJKLMNOPQRSTUVWXYZ — 800 Bold Expressive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10972800" cy="2286000"/>
          </a:xfrm>
          <a:prstGeom prst="rect">
            <a:avLst/>
          </a:prstGeom>
          <a:solidFill>
            <a:srgbClr val="1A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00"/>
                </a:solidFill>
                <a:latin typeface="Calibri"/>
              </a:rPr>
              <a:t>DM Sans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9E92"/>
                </a:solidFill>
                <a:latin typeface="Calibri"/>
              </a:rPr>
              <a:t>Police du corps de texte (paragraphes, labels, descriptions)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abcdefghijklmnopqrstuvwxyz — 400 Regular / 500 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96"/>
                </a:solidFill>
                <a:latin typeface="Calibri"/>
              </a:rPr>
              <a:t>→ Importées via Google Fonts (CDN) dans style.css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06 — Architecture du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73152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alibri"/>
              </a:rPr>
              <a:t>Accueil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2344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Hero + Bento Grid + Catégories + Témoignages + Blog + CTA + Modal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73152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freelances.html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alibri"/>
              </a:rPr>
              <a:t>Freelances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945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Filtres JS + 9 profils en grille (3 col desktop / 2 tablette / 1 mobile)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73152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tarifs.html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37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alibri"/>
              </a:rPr>
              <a:t>Tarifs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5467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 plans (Gratuit / Pro★ / Entreprise) + FAQ Accordion Bootstrap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40"/>
            <a:ext cx="73152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about.html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alibri"/>
              </a:rPr>
              <a:t>À propos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1148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Histoire + Équipe (4) + Valeurs (4) + Chiffres clés Bento + Compteurs JS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37760"/>
            <a:ext cx="73152" cy="64008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contact.html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57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700"/>
                </a:solidFill>
                <a:latin typeface="Calibri"/>
              </a:rPr>
              <a:t>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0749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Formulaire validé JS + Infos + Réseaux sociaux + Google Maps iframe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92"/>
                </a:solidFill>
                <a:latin typeface="Calibri"/>
              </a:rPr>
              <a:t>Fichiers partagés : css/style.css  |  js/main.js  |  images/  |  docs/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07 — Captures d'écran des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474720" cy="2377440"/>
          </a:xfrm>
          <a:prstGeom prst="rect">
            <a:avLst/>
          </a:prstGeom>
          <a:solidFill>
            <a:srgbClr val="05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474720" cy="2377440"/>
          </a:xfrm>
          <a:prstGeom prst="rect">
            <a:avLst/>
          </a:prstGeom>
          <a:noFill/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E92"/>
                </a:solidFill>
                <a:latin typeface="Calibri"/>
              </a:rPr>
              <a:t>📸
index.html — Accueil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474720" cy="2377440"/>
          </a:xfrm>
          <a:prstGeom prst="rect">
            <a:avLst/>
          </a:prstGeom>
          <a:solidFill>
            <a:srgbClr val="05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474720" cy="2377440"/>
          </a:xfrm>
          <a:prstGeom prst="rect">
            <a:avLst/>
          </a:prstGeom>
          <a:noFill/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E92"/>
                </a:solidFill>
                <a:latin typeface="Calibri"/>
              </a:rPr>
              <a:t>📸
freelances.html — Catalogue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097280"/>
            <a:ext cx="3474720" cy="2377440"/>
          </a:xfrm>
          <a:prstGeom prst="rect">
            <a:avLst/>
          </a:prstGeom>
          <a:solidFill>
            <a:srgbClr val="05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097280"/>
            <a:ext cx="3474720" cy="2377440"/>
          </a:xfrm>
          <a:prstGeom prst="rect">
            <a:avLst/>
          </a:prstGeom>
          <a:noFill/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E92"/>
                </a:solidFill>
                <a:latin typeface="Calibri"/>
              </a:rPr>
              <a:t>📸
tarifs.html — Tarifs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3474720" cy="2377440"/>
          </a:xfrm>
          <a:prstGeom prst="rect">
            <a:avLst/>
          </a:prstGeom>
          <a:solidFill>
            <a:srgbClr val="05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3474720" cy="2377440"/>
          </a:xfrm>
          <a:prstGeom prst="rect">
            <a:avLst/>
          </a:prstGeom>
          <a:noFill/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4572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E92"/>
                </a:solidFill>
                <a:latin typeface="Calibri"/>
              </a:rPr>
              <a:t>📸
about.html — À propos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840480"/>
            <a:ext cx="3474720" cy="2377440"/>
          </a:xfrm>
          <a:prstGeom prst="rect">
            <a:avLst/>
          </a:prstGeom>
          <a:solidFill>
            <a:srgbClr val="05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3474720" cy="2377440"/>
          </a:xfrm>
          <a:prstGeom prst="rect">
            <a:avLst/>
          </a:prstGeom>
          <a:noFill/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4572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E92"/>
                </a:solidFill>
                <a:latin typeface="Calibri"/>
              </a:rPr>
              <a:t>📸
contact.html — 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9E92"/>
                </a:solidFill>
                <a:latin typeface="Calibri"/>
              </a:rPr>
              <a:t>→ Remplacer les placeholders par de vraies captures avant la soutenance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08 — Points techniques : JavaScript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247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Dark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9903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localStorage.getItem/setItem + classList.toggle('dark-mode')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01367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0136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Compteurs animés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IntersectionObserver + requestAnimationFrame + easeOutCubic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51176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6243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511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Filtrage freelances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986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data-category vs data-filter → card.style.display = 'none/block'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00984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3741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009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Validation formulaire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484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regex /^[^\s@]+@[^\s@]+\.[^\s@]+$/ + longueur min 20 chars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50791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12394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5079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Navbar au scroll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98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window.scrollY &gt; 50 → classList.add('scrolled')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00600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8737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Retour en haut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48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window.scrollY &gt; 300 + window.scrollTo({behavior:'smooth'})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50408"/>
            <a:ext cx="411480" cy="5029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0810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504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Calibri"/>
              </a:rPr>
              <a:t>Fade-in scroll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9E92"/>
                </a:solidFill>
                <a:latin typeface="Calibri"/>
              </a:rPr>
              <a:t>IntersectionObserver → classList.add('visible')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09 — Bootstrap 5 &amp; CSS avancé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94960" cy="2651760"/>
          </a:xfrm>
          <a:prstGeom prst="rect">
            <a:avLst/>
          </a:prstGeom>
          <a:solidFill>
            <a:srgbClr val="00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96"/>
                </a:solidFill>
                <a:latin typeface="Calibri"/>
              </a:rPr>
              <a:t>⚡ Bootstrap 5 — Composants utilisés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Navbar responsive (navbar-expand-lg)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Grille (col-12, col-md-6, col-lg-4)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Carousel (témoignages)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Accordion (FAQ tarifs)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Modal (index + freelances)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Cards (freelances, tarifs)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394960" cy="2651760"/>
          </a:xfrm>
          <a:prstGeom prst="rect">
            <a:avLst/>
          </a:prstGeom>
          <a:solidFill>
            <a:srgbClr val="1A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143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🎨 CSS avancé —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15+ variables CSS dans :root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Bento Grid (CSS Grid asymétrique)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Effet 3D tilt (perspective/rotateX/Y)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Animations : float, shimmer, pulse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Glassmorphism (backdrop-filter)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✓ Responsive (3 breakpoints)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40480"/>
            <a:ext cx="11247120" cy="2560320"/>
          </a:xfrm>
          <a:prstGeom prst="rect">
            <a:avLst/>
          </a:prstGeom>
          <a:solidFill>
            <a:srgbClr val="02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Extrait CSS — Variables :root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FFE0"/>
                </a:solidFill>
                <a:latin typeface="Calibri"/>
              </a:rPr>
              <a:t>:root {
  --emerald: #00C896;    /* Vert émeraude — couleur principale */
  --gold: #FFD700;       /* Or — couleur secondaire */
  --bg: #020810;         /* Fond noir profond */
  --font-heading: 'Syne', sans-serif;
  --radius-lg: 22px;
  --transition: all .3s cubic-bezier(.4,0,.2,1);
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10 — GitHub : Commits &amp;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9E92"/>
                </a:solidFill>
                <a:latin typeface="Calibri"/>
              </a:rPr>
              <a:t>Dépôt : github.com/diasaidou344-jpg/Saidou-mamadou-dia-Afritalent  |  Visibilité : Public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81912"/>
            <a:ext cx="36576" cy="2926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C01  Init : création du dépôt, arborescence des fichiers et structure HTML de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75688"/>
            <a:ext cx="36576" cy="2926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0253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C02  HTML : structure complète des 5 pages avec sections et contenu texte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9464"/>
            <a:ext cx="36576" cy="2926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4963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C03  CSS : variables, typographie, layout général et styles de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36576" cy="2926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9900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C04  CSS : Bento Grid, sections hero et catégories, effets hover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57016"/>
            <a:ext cx="36576" cy="2926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4838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C05  CSS : responsive design mobile et tablette, media 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50791"/>
            <a:ext cx="36576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C06  JS : dark mode avec localStorage, navbar dynamique au scroll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44568"/>
            <a:ext cx="36576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47141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C07  JS : compteurs animés au scroll et animations fade-in des sections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38344"/>
            <a:ext cx="36576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9651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C08  JS : filtrage dynamique des freelances et validation du formulaire de contact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32120"/>
            <a:ext cx="36576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4589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C09  Finalisation : corrections responsive, optimisation du code et commentaires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025896"/>
            <a:ext cx="36576" cy="2926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9527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C10  Déploiement : GitHub Pages activé, README finalisé et présentation PowerPoint ajoutée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96"/>
                </a:solidFill>
                <a:latin typeface="Calibri"/>
              </a:rPr>
              <a:t>🌐 GitHub Pages : Settings → Pages → Deploy from main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11 — GitHub Pages &amp; Déploiement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00" cy="2286000"/>
          </a:xfrm>
          <a:prstGeom prst="rect">
            <a:avLst/>
          </a:prstGeom>
          <a:solidFill>
            <a:srgbClr val="00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URL du site en ligne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96"/>
                </a:solidFill>
                <a:latin typeface="Calibri"/>
              </a:rPr>
              <a:t>https://diasaidou344-jpg.github.io/Saidou-mamadou-dia-Afritalent/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→ Toutes les pages accessibles  ✓  |  Images chargées  ✓  |  JS fonctionnel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Étapes d'activation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1.  Aller sur GitHub → ton dépôt → Settings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2.  Menu gauche : Pages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3.  Source : Deploy from a branch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4.  Branch : main → dossier : / (root)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5.  Cliquer Save → URL générée automatiquement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6.  Vérifier que toutes les pages chargent correctement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12 — Difficultés rencontrées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0972800" cy="1554480"/>
          </a:xfrm>
          <a:prstGeom prst="rect">
            <a:avLst/>
          </a:prstGeom>
          <a:solidFill>
            <a:srgbClr val="02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⚠️  Effet 3D tilt sur les cartes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AAA"/>
                </a:solidFill>
                <a:latin typeface="Calibri"/>
              </a:rPr>
              <a:t>Problème : L'effet rotateX/Y en CSS pur ne suit pas la souris dynamiquement.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96"/>
                </a:solidFill>
                <a:latin typeface="Calibri"/>
              </a:rPr>
              <a:t>Solution : Utilisation de mousemove en JS : calcul de la position relative de la souris dans la carte, conversion en degrés de rotation via perspective() rotateX() rotateY().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39"/>
            <a:ext cx="10972800" cy="1554480"/>
          </a:xfrm>
          <a:prstGeom prst="rect">
            <a:avLst/>
          </a:prstGeom>
          <a:solidFill>
            <a:srgbClr val="02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⚠️  Dark Mode persistant entre les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AAA"/>
                </a:solidFill>
                <a:latin typeface="Calibri"/>
              </a:rPr>
              <a:t>Problème : La classe dark-mode se perdait lors de la navigation d'une page à l'autre.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26864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96"/>
                </a:solidFill>
                <a:latin typeface="Calibri"/>
              </a:rPr>
              <a:t>Solution : localStorage.setItem('afri-theme', 'dark') à chaque toggle, lu au DOMContentLoaded sur toutes les pages via initDarkMode().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10972800" cy="1554480"/>
          </a:xfrm>
          <a:prstGeom prst="rect">
            <a:avLst/>
          </a:prstGeom>
          <a:solidFill>
            <a:srgbClr val="02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645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⚠️  Filtrage sans rechargement de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AAA"/>
                </a:solidFill>
                <a:latin typeface="Calibri"/>
              </a:rPr>
              <a:t>Problème : Cacher/montrer les cartes freelances par catégorie sans jQuery ni framework.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4406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96"/>
                </a:solidFill>
                <a:latin typeface="Calibri"/>
              </a:rPr>
              <a:t>Solution : Attributs data-category sur les cartes et data-filter sur les boutons. JS compare les deux valeurs et applique display:none ou display:block.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13 — Ressources &amp;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24712"/>
            <a:ext cx="36576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MDN Web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051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developer.mozilla.org/fr/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Référence HTML5, CSS3, JavaScript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73352"/>
            <a:ext cx="36576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Bootstrap 5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600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getbootstrap.com/docs/5.3/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Composants, grille, utilitaires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21991"/>
            <a:ext cx="36576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488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Bootstrap Icons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1488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icons.getbootstrap.com/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488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Bibliothèque d'icônes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70632"/>
            <a:ext cx="36576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6974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Google Fonts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6974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fonts.google.com/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97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Polices Syne et DM Sans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19272"/>
            <a:ext cx="36576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CSS-Tricks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css-tricks.com/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Guides CSS Grid, Flexbox, animations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67912"/>
            <a:ext cx="36576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W3C Validator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794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validator.w3.org/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Validation HTML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16552"/>
            <a:ext cx="36576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Unsplash / Pexels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unsplash.com / pexels.com/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343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Images libres de droits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965192"/>
            <a:ext cx="36576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4892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Awwwards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awwwards.com/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Inspiration design web haut de gamme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513831"/>
            <a:ext cx="36576" cy="3200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54406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Dribbble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54406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dribbble.com/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4406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Inspiration UI/UX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62471"/>
            <a:ext cx="36576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59893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Coolors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59893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96"/>
                </a:solidFill>
                <a:latin typeface="Calibri"/>
              </a:rPr>
              <a:t>coolors.co/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9893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E92"/>
                </a:solidFill>
                <a:latin typeface="Calibri"/>
              </a:rPr>
              <a:t>Générateur de palettes de couleurs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6099048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45720"/>
            <a:ext cx="6099048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96"/>
                </a:solidFill>
                <a:latin typeface="Calibri"/>
              </a:rPr>
              <a:t>14 — Démonstration live du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8346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Ouverture du site en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474720"/>
            <a:ext cx="1218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00C896"/>
                </a:solidFill>
                <a:latin typeface="Calibri"/>
              </a:rPr>
              <a:t>https://</a:t>
            </a:r>
            <a:r>
              <a:rPr lang="en-US" b="1" dirty="0">
                <a:solidFill>
                  <a:srgbClr val="00C896"/>
                </a:solidFill>
                <a:latin typeface="Calibri"/>
              </a:rPr>
              <a:t>DIA</a:t>
            </a:r>
            <a:r>
              <a:rPr sz="1800" b="1" i="0" dirty="0">
                <a:solidFill>
                  <a:srgbClr val="00C896"/>
                </a:solidFill>
                <a:latin typeface="Calibri"/>
              </a:rPr>
              <a:t>-</a:t>
            </a:r>
            <a:r>
              <a:rPr lang="en-US" sz="1800" b="1" i="0" dirty="0">
                <a:solidFill>
                  <a:srgbClr val="00C896"/>
                </a:solidFill>
                <a:latin typeface="Calibri"/>
              </a:rPr>
              <a:t>Saidou</a:t>
            </a:r>
            <a:r>
              <a:rPr sz="1800" b="1" i="0" dirty="0">
                <a:solidFill>
                  <a:srgbClr val="00C896"/>
                </a:solidFill>
                <a:latin typeface="Calibri"/>
              </a:rPr>
              <a:t>.github.io/Saidou-mamadou-dia-Afritalent/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1148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Navigation entre les 5 pages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Toggle Dark Mode / Light Mode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Filtrage des freelances par catégorie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Effet 3D tilt sur les cartes au survol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Validation du formulaire de contact (erreurs + succès)</a:t>
            </a:r>
          </a:p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→ Compteurs animés au scroll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96"/>
                </a:solidFill>
                <a:latin typeface="Calibri"/>
              </a:rPr>
              <a:t>15 — Conclusion &amp;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960120"/>
            <a:ext cx="670255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Calibri"/>
              </a:rPr>
              <a:t>Ce que j'ai appris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✅ HTML5 sémantique &amp; accessibilité (alt, aria-label, rôles)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✅ CSS3 avancé : Grid, Bento, animations, variables, responsive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✅ Bootstrap 5 : navbar, carousel, accordion, modal, grille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✅ JavaScript vanilla : 7 fonctionnalités + effets bonus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✅ Git &amp; GitHub : 10 commits, GitHub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Calibri"/>
              </a:rPr>
              <a:t>Perspectives d'amélioration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🚀 Connexion à une vraie API backend (Node.js/Django)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🚀 Authentification utilisateur (JWT)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🚀 Système de messagerie en temps réel (WebSocket)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🚀 Paiement intégré (Wave, Orange Money API)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🚀 Application mobile React Native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0972800" cy="45720"/>
          </a:xfrm>
          <a:prstGeom prst="rect">
            <a:avLst/>
          </a:prstGeom>
          <a:solidFill>
            <a:srgbClr val="005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0" y="41148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96"/>
                </a:solidFill>
                <a:latin typeface="Calibri"/>
              </a:rPr>
              <a:t>Merci pour votre attention ! 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Des questions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6692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E92"/>
                </a:solidFill>
                <a:latin typeface="Calibri"/>
              </a:rPr>
              <a:t>Saidou Mamadou Dia  •  diasaidou344@gmail.com  •  AfriTalent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1693</TotalTime>
  <Words>1535</Words>
  <Application>Microsoft Office PowerPoint</Application>
  <PresentationFormat>Personnalisé</PresentationFormat>
  <Paragraphs>209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Saidou Dia</cp:lastModifiedBy>
  <cp:revision>3</cp:revision>
  <dcterms:created xsi:type="dcterms:W3CDTF">2013-01-27T09:14:16Z</dcterms:created>
  <dcterms:modified xsi:type="dcterms:W3CDTF">2026-05-31T22:13:35Z</dcterms:modified>
  <cp:category/>
</cp:coreProperties>
</file>